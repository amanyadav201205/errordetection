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3291840" cy="411480"/>
          </a:xfrm>
          <a:prstGeom prst="roundRect">
            <a:avLst/>
          </a:prstGeom>
          <a:solidFill>
            <a:srgbClr val="0E749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COMPUTER NETWORKS LAB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Interactive Network Error Detection</a:t>
            </a:r>
            <a:br/>
            <a:r>
              <a:t>&amp; Correction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Segoe UI"/>
              </a:defRPr>
            </a:pPr>
            <a:r>
              <a:t>A Comprehensive Mathematical Simulation of Data Link Layer Error Control Mechanisms Integrated with Network Simulator 2 (NS-2) Physical Channel Discrete-Event Modeling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10360152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709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PROJECT 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1206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AMAN KUMAR YADAV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Parity &amp; CRC Modulo-2 Division</a:t>
            </a:r>
            <a:br/>
            <a:r>
              <a:t>• Web Engine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1206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PRATIK BHARADBHUNJE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Hamming Code Syndrome Calculation</a:t>
            </a:r>
            <a:br/>
            <a:r>
              <a:t>• Forward Error Correction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51206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Segoe UI"/>
              </a:defRPr>
            </a:pPr>
            <a:r>
              <a:t>DEVRISHI GADIA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Internet Checksum 1's Complement</a:t>
            </a:r>
            <a:br/>
            <a:r>
              <a:t>• NS-2 Channel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● 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Project Motivation &amp; Architectural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Bridging theoretical Data Link Layer error control with realistic physical channel noise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1. The Problem in Physical Transmission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Real-world network transmission challenges:</a:t>
            </a:r>
          </a:p>
          <a:p>
            <a:pPr>
              <a:spcBef>
                <a:spcPts val="1200"/>
              </a:spcBef>
              <a:defRPr sz="1200"/>
            </a:pPr>
            <a:r>
              <a:rPr b="1">
                <a:solidFill>
                  <a:srgbClr val="F8FAFC"/>
                </a:solidFill>
              </a:rPr>
              <a:t>• Physical Noise &amp; Attenuation: </a:t>
            </a:r>
            <a:r>
              <a:rPr>
                <a:solidFill>
                  <a:srgbClr val="94A3B8"/>
                </a:solidFill>
              </a:rPr>
              <a:t>Thermal noise, cross-talk, and fading corrupt binary bits (0 -&gt; 1 or 1 -&gt; 0) across copper and wireless media.</a:t>
            </a:r>
          </a:p>
          <a:p>
            <a:pPr>
              <a:spcBef>
                <a:spcPts val="1200"/>
              </a:spcBef>
              <a:defRPr sz="1200"/>
            </a:pPr>
            <a:r>
              <a:rPr b="1">
                <a:solidFill>
                  <a:srgbClr val="F8FAFC"/>
                </a:solidFill>
              </a:rPr>
              <a:t>• Silent Data Corruption: </a:t>
            </a:r>
            <a:r>
              <a:rPr>
                <a:solidFill>
                  <a:srgbClr val="94A3B8"/>
                </a:solidFill>
              </a:rPr>
              <a:t>Without Data Link Layer error detection, corrupted packets compromise application layer payloads, files, and protocols.</a:t>
            </a:r>
          </a:p>
          <a:p>
            <a:pPr>
              <a:spcBef>
                <a:spcPts val="1200"/>
              </a:spcBef>
              <a:defRPr sz="1200"/>
            </a:pPr>
            <a:r>
              <a:rPr b="1">
                <a:solidFill>
                  <a:srgbClr val="F8FAFC"/>
                </a:solidFill>
              </a:rPr>
              <a:t>• Limitations of Textbook Theory: </a:t>
            </a:r>
            <a:r>
              <a:rPr>
                <a:solidFill>
                  <a:srgbClr val="94A3B8"/>
                </a:solidFill>
              </a:rPr>
              <a:t>Traditional static exercises fail to show how check bits interact with live channel noise, loss rates, and syndrome recovery.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2. Our Integrated Solution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Complete interactive simulation suite:</a:t>
            </a:r>
          </a:p>
          <a:p>
            <a:pPr>
              <a:spcBef>
                <a:spcPts val="1000"/>
              </a:spcBef>
              <a:defRPr sz="1200"/>
            </a:pPr>
            <a:r>
              <a:rPr b="1">
                <a:solidFill>
                  <a:srgbClr val="34D399"/>
                </a:solidFill>
              </a:rPr>
              <a:t>• 5 Core Algorithms: </a:t>
            </a:r>
            <a:r>
              <a:rPr>
                <a:solidFill>
                  <a:srgbClr val="94A3B8"/>
                </a:solidFill>
              </a:rPr>
              <a:t>Full implementation of 1D Parity, 2D Parity Matrix, Hamming Code (n,k), Internet Checksum, and Cyclic Redundancy Check (CRC).</a:t>
            </a:r>
          </a:p>
          <a:p>
            <a:pPr>
              <a:spcBef>
                <a:spcPts val="1000"/>
              </a:spcBef>
              <a:defRPr sz="1200"/>
            </a:pPr>
            <a:r>
              <a:rPr b="1">
                <a:solidFill>
                  <a:srgbClr val="34D399"/>
                </a:solidFill>
              </a:rPr>
              <a:t>• Network Simulator 2 (NS-2): </a:t>
            </a:r>
            <a:r>
              <a:rPr>
                <a:solidFill>
                  <a:srgbClr val="94A3B8"/>
                </a:solidFill>
              </a:rPr>
              <a:t>Real discrete-event simulation via WSL with Node 0 (Tx), Node 1 (Rx), 2 Mbps link, and ErrorModel packet loss.</a:t>
            </a:r>
          </a:p>
          <a:p>
            <a:pPr>
              <a:spcBef>
                <a:spcPts val="1000"/>
              </a:spcBef>
              <a:defRPr sz="1200"/>
            </a:pPr>
            <a:r>
              <a:rPr b="1">
                <a:solidFill>
                  <a:srgbClr val="34D399"/>
                </a:solidFill>
              </a:rPr>
              <a:t>• Bit-Level Error Injection: </a:t>
            </a:r>
            <a:r>
              <a:rPr>
                <a:solidFill>
                  <a:srgbClr val="94A3B8"/>
                </a:solidFill>
              </a:rPr>
              <a:t>Interactive bit-flipping, single-bit random noise, and 3-bit burst error corruption simulations.</a:t>
            </a:r>
          </a:p>
          <a:p>
            <a:pPr>
              <a:spcBef>
                <a:spcPts val="1000"/>
              </a:spcBef>
              <a:defRPr sz="1200"/>
            </a:pPr>
            <a:r>
              <a:rPr b="1">
                <a:solidFill>
                  <a:srgbClr val="34D399"/>
                </a:solidFill>
              </a:rPr>
              <a:t>• Multi-Platform Availability: </a:t>
            </a:r>
            <a:r>
              <a:rPr>
                <a:solidFill>
                  <a:srgbClr val="94A3B8"/>
                </a:solidFill>
              </a:rPr>
              <a:t>Runs as high-performance Desktop GUI (Tkinter), Local Web Server (Python 3.14), and Cloud Web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●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End-to-End Network Transmission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The 6 architectural stages modeling sender encoding, channel transmission, noise, and receiver recovery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STAGE 01</a:t>
            </a: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Input Binary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Validation of binary stream (4, 8, 12, 16-bit presets or ASCII text converter).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290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STAGE 02</a:t>
            </a: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Encode &amp; Redundancy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Generation of check bits, syndrome matrices, and transmitted codeword.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737360"/>
            <a:ext cx="34290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92024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STAGE 03</a:t>
            </a: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Channel &amp; NS-2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Physical transmission across duplex link with optional NS-2 ErrorModel loss.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79"/>
            <a:ext cx="34290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51959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STAGE 04</a:t>
            </a: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Error Injection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Interactive single-bit flip, random channel noise, or 3-bit burst corruption.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069079"/>
            <a:ext cx="34290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251959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STAGE 05</a:t>
            </a: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Receiver Verify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Syndrome evaluation, 1's complement check, or Modulo-2 XOR division.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4069079"/>
            <a:ext cx="34290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4251959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STAGE 06</a:t>
            </a: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Recovery &amp; Result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Automated bit correction, diagnostic breakdown, and step-by-step visualizer.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●  ALGORITHM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1D Parity Check (Even &amp; Odd Schemes)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Minimal bandwidth redundancy mechanism for single-bit error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Mathematical Formulation &amp; Working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Parity Bit Generation: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Concept: </a:t>
            </a:r>
            <a:r>
              <a:rPr>
                <a:solidFill>
                  <a:srgbClr val="94A3B8"/>
                </a:solidFill>
              </a:rPr>
              <a:t>Appends a single check bit (P) to the data stream such that the total count of binary 1s satisfies the chosen parity rule.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Even Parity: </a:t>
            </a:r>
            <a:r>
              <a:rPr>
                <a:solidFill>
                  <a:srgbClr val="94A3B8"/>
                </a:solidFill>
              </a:rPr>
              <a:t>P = 0 if sum of data bits is even; P = 1 if sum of data bits is odd.
Formula: P = b1 ⊕ b2 ⊕ ... ⊕ bn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Odd Parity: </a:t>
            </a:r>
            <a:r>
              <a:rPr>
                <a:solidFill>
                  <a:srgbClr val="94A3B8"/>
                </a:solidFill>
              </a:rPr>
              <a:t>P = 1 if sum of data bits is even; P = 0 if sum of data bits is odd.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Receiver Decision: </a:t>
            </a:r>
            <a:r>
              <a:rPr>
                <a:solidFill>
                  <a:srgbClr val="94A3B8"/>
                </a:solidFill>
              </a:rPr>
              <a:t>Computes parity over received frame. If parity matches scheme -&gt; Accepted; else -&gt; Discarded (Error Detected).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Detection Strength: </a:t>
            </a:r>
            <a:r>
              <a:rPr>
                <a:solidFill>
                  <a:srgbClr val="94A3B8"/>
                </a:solidFill>
              </a:rPr>
              <a:t>Detects all odd numbers of bit errors (1, 3, 5...). Cannot detect even numbers of bit flips (2, 4...) because they cancel out parity.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NS-2 Physical Channel Simulation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Transmission across NS-2 Duplex Link: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38BDF8"/>
                </a:solidFill>
              </a:rPr>
              <a:t>• Codeword Transmission: </a:t>
            </a:r>
            <a:r>
              <a:rPr>
                <a:solidFill>
                  <a:srgbClr val="94A3B8"/>
                </a:solidFill>
              </a:rPr>
              <a:t>Transmitter (Node 0) formats the frame (e.g. 11010010 + '0' = 110100100) and packetizes it into CBR UDP packets.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38BDF8"/>
                </a:solidFill>
              </a:rPr>
              <a:t>• NS-2 ErrorModel Loss: </a:t>
            </a:r>
            <a:r>
              <a:rPr>
                <a:solidFill>
                  <a:srgbClr val="94A3B8"/>
                </a:solidFill>
              </a:rPr>
              <a:t>The duplex link applies a uniform loss probability. When an ErrorModel drop event occurs, a bit corruption event is registered.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38BDF8"/>
                </a:solidFill>
              </a:rPr>
              <a:t>• NS-2 Trace Output (.tr): </a:t>
            </a:r>
            <a:r>
              <a:rPr>
                <a:solidFill>
                  <a:srgbClr val="94A3B8"/>
                </a:solidFill>
              </a:rPr>
              <a:t>Generated events record packet enqueue (+), drop (d), and receive (r) at Node 1 (Sink).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38BDF8"/>
                </a:solidFill>
              </a:rPr>
              <a:t>• Live Result: </a:t>
            </a:r>
            <a:r>
              <a:rPr>
                <a:solidFill>
                  <a:srgbClr val="94A3B8"/>
                </a:solidFill>
              </a:rPr>
              <a:t>When NS-2 flips a single bit, the receiver parity check fails instantly, triggering 'Error Detected' with 100% reliability for 1-bit noise.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●  ALGORITHM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2D Parity Check (Matrix Grid Localization)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Combining Longitudinal (LRC) &amp; Vertical (VRC) Redundancy Checks for bit error correction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Matrix Organization &amp; Error Pinpointing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Grid Coordinates and Parity Intersection:</a:t>
            </a:r>
          </a:p>
          <a:p>
            <a:pPr>
              <a:spcBef>
                <a:spcPts val="7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Matrix Structuring: </a:t>
            </a:r>
            <a:r>
              <a:rPr>
                <a:solidFill>
                  <a:srgbClr val="94A3B8"/>
                </a:solidFill>
              </a:rPr>
              <a:t>Data stream of length M × N is organized into an M-row by N-column rectangular matrix grid.</a:t>
            </a:r>
          </a:p>
          <a:p>
            <a:pPr>
              <a:spcBef>
                <a:spcPts val="7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Row Parity (LRC): </a:t>
            </a:r>
            <a:r>
              <a:rPr>
                <a:solidFill>
                  <a:srgbClr val="94A3B8"/>
                </a:solidFill>
              </a:rPr>
              <a:t>Computes horizontal parity for each row i (adds 1 bit per row).</a:t>
            </a:r>
          </a:p>
          <a:p>
            <a:pPr>
              <a:spcBef>
                <a:spcPts val="7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Column Parity (VRC): </a:t>
            </a:r>
            <a:r>
              <a:rPr>
                <a:solidFill>
                  <a:srgbClr val="94A3B8"/>
                </a:solidFill>
              </a:rPr>
              <a:t>Computes vertical parity for each column j (adds 1 bit per column).</a:t>
            </a:r>
          </a:p>
          <a:p>
            <a:pPr>
              <a:spcBef>
                <a:spcPts val="7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Corner Parity: </a:t>
            </a:r>
            <a:r>
              <a:rPr>
                <a:solidFill>
                  <a:srgbClr val="94A3B8"/>
                </a:solidFill>
              </a:rPr>
              <a:t>Calculates overall matrix parity bit at the bottom-right intersection.</a:t>
            </a:r>
          </a:p>
          <a:p>
            <a:pPr>
              <a:spcBef>
                <a:spcPts val="7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Intersection Localization: </a:t>
            </a:r>
            <a:r>
              <a:rPr>
                <a:solidFill>
                  <a:srgbClr val="94A3B8"/>
                </a:solidFill>
              </a:rPr>
              <a:t>If bit at Row i, Column j is flipped, Row i parity FAILS and Column j parity FAILS. Their intersection (i, j) uniquely pinpoints the corrupted bit!</a:t>
            </a:r>
          </a:p>
          <a:p>
            <a:pPr>
              <a:spcBef>
                <a:spcPts val="7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Forward Error Correction: </a:t>
            </a:r>
            <a:r>
              <a:rPr>
                <a:solidFill>
                  <a:srgbClr val="94A3B8"/>
                </a:solidFill>
              </a:rPr>
              <a:t>The receiver automatically inverts bit (i, j) back to its original state, achieving complete 1-bit recovery!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NS-2 Simulation &amp; Recovery Demonstration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Channel Noise Modeling: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34D399"/>
                </a:solidFill>
              </a:rPr>
              <a:t>• Packet Serialization: </a:t>
            </a:r>
            <a:r>
              <a:rPr>
                <a:solidFill>
                  <a:srgbClr val="94A3B8"/>
                </a:solidFill>
              </a:rPr>
              <a:t>The entire (M+1) × (N+1) codeword matrix is serialized and sent across NS-2 link from Node 0 to Node 1.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34D399"/>
                </a:solidFill>
              </a:rPr>
              <a:t>• NS-2 Trace Validation: </a:t>
            </a:r>
            <a:r>
              <a:rPr>
                <a:solidFill>
                  <a:srgbClr val="94A3B8"/>
                </a:solidFill>
              </a:rPr>
              <a:t>Trace log ns2_parity2d.tr confirms packet transmission across the link with ErrorModel packet drops.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34D399"/>
                </a:solidFill>
              </a:rPr>
              <a:t>• Observed Behavior: </a:t>
            </a:r>
            <a:r>
              <a:rPr>
                <a:solidFill>
                  <a:srgbClr val="94A3B8"/>
                </a:solidFill>
              </a:rPr>
              <a:t>When NS-2 corrupts a packet in transit, the receiver reconstructs the grid, detects the failed row and column, and corrects the bit seamlessly.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34D399"/>
                </a:solidFill>
              </a:rPr>
              <a:t>• Limitation Handled: </a:t>
            </a:r>
            <a:r>
              <a:rPr>
                <a:solidFill>
                  <a:srgbClr val="94A3B8"/>
                </a:solidFill>
              </a:rPr>
              <a:t>If multiple bits flip across different rows/columns, the system flags 'Multiple Errors Detected (Uncorrectable)' accurately.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●  ALGORITHM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Hamming Code (n, k) &amp; Forward Error 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Power-of-two parity placement with mathematical syndrome calculation for automatic bit recovery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Mathematical Foundation &amp; Syndrome Theory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Richard Hamming (1950) Coding Theory:</a:t>
            </a:r>
          </a:p>
          <a:p>
            <a:pPr>
              <a:spcBef>
                <a:spcPts val="7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Check Bit Placement: </a:t>
            </a:r>
            <a:r>
              <a:rPr>
                <a:solidFill>
                  <a:srgbClr val="94A3B8"/>
                </a:solidFill>
              </a:rPr>
              <a:t>For k data bits, r parity bits are inserted at power-of-two bit indices (1, 2, 4, 8, ...) where 2^r &gt;= k + r + 1.</a:t>
            </a:r>
          </a:p>
          <a:p>
            <a:pPr>
              <a:spcBef>
                <a:spcPts val="7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Bit Coverage: </a:t>
            </a:r>
            <a:r>
              <a:rPr>
                <a:solidFill>
                  <a:srgbClr val="94A3B8"/>
                </a:solidFill>
              </a:rPr>
              <a:t>Parity bit at position 2^i checks all bit positions whose binary index has a 1 in the i-th bit position:
• P1 checks [1, 3, 5, 7, 9, 11...]
• P2 checks [2, 3, 6, 7, 10, 11...]
• P4 checks [4, 5, 6, 7, 12, 13...]</a:t>
            </a:r>
          </a:p>
          <a:p>
            <a:pPr>
              <a:spcBef>
                <a:spcPts val="7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Syndrome Calculation: </a:t>
            </a:r>
            <a:r>
              <a:rPr>
                <a:solidFill>
                  <a:srgbClr val="94A3B8"/>
                </a:solidFill>
              </a:rPr>
              <a:t>Receiver recalculates parity checks: Syndrome S = (s_r ... s_2 s_1)_2.
• S = 0 =&gt; No error (Frame is clean)
• S = Decimal value D =&gt; EXACT bit at position D is corrupted!</a:t>
            </a:r>
          </a:p>
          <a:p>
            <a:pPr>
              <a:spcBef>
                <a:spcPts val="7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Automatic Bit Flipping: </a:t>
            </a:r>
            <a:r>
              <a:rPr>
                <a:solidFill>
                  <a:srgbClr val="94A3B8"/>
                </a:solidFill>
              </a:rPr>
              <a:t>Codeword[D] = ~Codeword[D]. The corrupted bit is inverted and original data is extracted with 100%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NS-2 Simulation &amp; Syndrome Execution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Discrete-Event Link Validation: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38BDF8"/>
                </a:solidFill>
              </a:rPr>
              <a:t>• NS-2 Trace Engine: </a:t>
            </a:r>
            <a:r>
              <a:rPr>
                <a:solidFill>
                  <a:srgbClr val="94A3B8"/>
                </a:solidFill>
              </a:rPr>
              <a:t>Hamming codeword (e.g. 7-bit codeword for 4-bit data) transmitted across Node 0 -&gt; Node 1 link.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38BDF8"/>
                </a:solidFill>
              </a:rPr>
              <a:t>• Trace Events in ns2_hamming.tr: </a:t>
            </a:r>
            <a:r>
              <a:rPr>
                <a:solidFill>
                  <a:srgbClr val="94A3B8"/>
                </a:solidFill>
              </a:rPr>
              <a:t>Logs packets undergoing transmission (+) and ErrorModel drops (d).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38BDF8"/>
                </a:solidFill>
              </a:rPr>
              <a:t>• Syndrome Localization Demo: </a:t>
            </a:r>
            <a:r>
              <a:rPr>
                <a:solidFill>
                  <a:srgbClr val="94A3B8"/>
                </a:solidFill>
              </a:rPr>
              <a:t>When NS-2 injects channel corruption, the simulator calculates the exact syndrome index (e.g. Syndrome = 5), highlights position 5 in yellow, and flips it back to original value.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38BDF8"/>
                </a:solidFill>
              </a:rPr>
              <a:t>• Industrial Relevance: </a:t>
            </a:r>
            <a:r>
              <a:rPr>
                <a:solidFill>
                  <a:srgbClr val="94A3B8"/>
                </a:solidFill>
              </a:rPr>
              <a:t>Core algorithm used in ECC RAM (Server Memory), RAID-2 disk arrays, and satellite communication links.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●  ALGORITHM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Internet Checksum (1's Complement Summation)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The foundational error detection mechanism powering IPv4, TCP, and UDP packet headers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Mathematical Mechanism &amp; 1's Complement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RFC 1071 Standard Protocol Mechanism: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Block Segmentation: </a:t>
            </a:r>
            <a:r>
              <a:rPr>
                <a:solidFill>
                  <a:srgbClr val="94A3B8"/>
                </a:solidFill>
              </a:rPr>
              <a:t>The binary message stream is divided into k-bit blocks (typically 4, 8, or 16 bits).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1's Complement Addition: </a:t>
            </a:r>
            <a:r>
              <a:rPr>
                <a:solidFill>
                  <a:srgbClr val="94A3B8"/>
                </a:solidFill>
              </a:rPr>
              <a:t>Sender adds all k-bit words together using standard binary addition.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End-Around Carry: </a:t>
            </a:r>
            <a:r>
              <a:rPr>
                <a:solidFill>
                  <a:srgbClr val="94A3B8"/>
                </a:solidFill>
              </a:rPr>
              <a:t>Whenever an overflow carry bit exceeds k bits, it is wrapped around and added to the least significant bit (LSB).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Checksum Inversion: </a:t>
            </a:r>
            <a:r>
              <a:rPr>
                <a:solidFill>
                  <a:srgbClr val="94A3B8"/>
                </a:solidFill>
              </a:rPr>
              <a:t>The final running sum is inverted (1's complement: 0 -&gt; 1, 1 -&gt; 0) and appended to the payload.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Receiver Verification: </a:t>
            </a:r>
            <a:r>
              <a:rPr>
                <a:solidFill>
                  <a:srgbClr val="94A3B8"/>
                </a:solidFill>
              </a:rPr>
              <a:t>Receiver sums all message blocks PLUS the checksum. If all bits in the sum equal 1 (i.e. complemented result is 0), the packet is VALID; otherwise CORRUPTED!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NS-2 Channel Integration &amp; Protocol Context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Evaluating Link Transmission: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FBBF24"/>
                </a:solidFill>
              </a:rPr>
              <a:t>• NS-2 Trace Modeling: </a:t>
            </a:r>
            <a:r>
              <a:rPr>
                <a:solidFill>
                  <a:srgbClr val="94A3B8"/>
                </a:solidFill>
              </a:rPr>
              <a:t>The Checksum-protected frame is transmitted across the NS-2 channel from Node 0 to Node 1.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FBBF24"/>
                </a:solidFill>
              </a:rPr>
              <a:t>• Trace Events in ns2_checksum.tr: </a:t>
            </a:r>
            <a:r>
              <a:rPr>
                <a:solidFill>
                  <a:srgbClr val="94A3B8"/>
                </a:solidFill>
              </a:rPr>
              <a:t>Demonstrates packet drops and transmissions over 2 Mbps channel with 10 ms delay.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FBBF24"/>
                </a:solidFill>
              </a:rPr>
              <a:t>• Why Internet Protocols Use It: </a:t>
            </a:r>
            <a:r>
              <a:rPr>
                <a:solidFill>
                  <a:srgbClr val="94A3B8"/>
                </a:solidFill>
              </a:rPr>
              <a:t>1's complement summation is extremely fast to compute in software with simple integer additions, requiring minimal CPU cycles in routers.</a:t>
            </a:r>
          </a:p>
          <a:p>
            <a:pPr>
              <a:spcBef>
                <a:spcPts val="1000"/>
              </a:spcBef>
              <a:defRPr sz="1150"/>
            </a:pPr>
            <a:r>
              <a:rPr b="1">
                <a:solidFill>
                  <a:srgbClr val="FBBF24"/>
                </a:solidFill>
              </a:rPr>
              <a:t>• Observed Detection: </a:t>
            </a:r>
            <a:r>
              <a:rPr>
                <a:solidFill>
                  <a:srgbClr val="94A3B8"/>
                </a:solidFill>
              </a:rPr>
              <a:t>Detects any burst error that alters the arithmetic sum. Clean frames yield complemented sum = 0x0000; corrupted frames yield non-zero sum.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●  ALGORITHM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Cyclic Redundancy Check (CRC Modulo-2 Division)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High-performance polynomial division over GF(2) utilized in Ethernet, Wi-Fi, and USB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Polynomial Division over GF(2)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Binary Modulo-2 XOR Mathematics:</a:t>
            </a:r>
          </a:p>
          <a:p>
            <a:pPr>
              <a:spcBef>
                <a:spcPts val="7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Polynomial Representation: </a:t>
            </a:r>
            <a:r>
              <a:rPr>
                <a:solidFill>
                  <a:srgbClr val="94A3B8"/>
                </a:solidFill>
              </a:rPr>
              <a:t>Binary data treated as coefficients of a polynomial M(x). Generator polynomial G(x) of degree r defines divisor.</a:t>
            </a:r>
          </a:p>
          <a:p>
            <a:pPr>
              <a:spcBef>
                <a:spcPts val="7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Sender Encoding: </a:t>
            </a:r>
            <a:r>
              <a:rPr>
                <a:solidFill>
                  <a:srgbClr val="94A3B8"/>
                </a:solidFill>
              </a:rPr>
              <a:t>1. Multiply M(x) by 2^r (append r zero bits to data).
2. Divide by G(x) using Modulo-2 division (XOR subtraction without borrow).
3. Remainder R(x) of r bits is the CRC Checksum.
4. Transmitted Codeword = M(x)*2^r + R(x).</a:t>
            </a:r>
          </a:p>
          <a:p>
            <a:pPr>
              <a:spcBef>
                <a:spcPts val="7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Receiver Verification: </a:t>
            </a:r>
            <a:r>
              <a:rPr>
                <a:solidFill>
                  <a:srgbClr val="94A3B8"/>
                </a:solidFill>
              </a:rPr>
              <a:t>Receiver divides received frame by G(x). If Remainder == 0 =&gt; Clean (Accepted); If Remainder != 0 =&gt; Corrupted!</a:t>
            </a:r>
          </a:p>
          <a:p>
            <a:pPr>
              <a:spcBef>
                <a:spcPts val="7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Preset Polynomials Supported: </a:t>
            </a:r>
            <a:r>
              <a:rPr>
                <a:solidFill>
                  <a:srgbClr val="94A3B8"/>
                </a:solidFill>
              </a:rPr>
              <a:t>• CRC-4 (ITU): 10011 (x^4 + x + 1)
• CRC-8 (ATM): 100000111
• CRC-16 (IBM): 11000000000000101
• CRC-32 (IEEE 802.3 Ethernet): 33-bit polynomial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Detection Superiority &amp; NS-2 Trace Integration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Industry-Standard Error Detection Power:</a:t>
            </a:r>
          </a:p>
          <a:p>
            <a:pPr>
              <a:spcBef>
                <a:spcPts val="800"/>
              </a:spcBef>
              <a:defRPr sz="1100"/>
            </a:pPr>
            <a:r>
              <a:rPr b="1">
                <a:solidFill>
                  <a:srgbClr val="34D399"/>
                </a:solidFill>
              </a:rPr>
              <a:t>• 100% Single-Bit Errors: </a:t>
            </a:r>
            <a:r>
              <a:rPr>
                <a:solidFill>
                  <a:srgbClr val="94A3B8"/>
                </a:solidFill>
              </a:rPr>
              <a:t>Any single-bit error is not divisible by G(x) (provided G(x) has at least 2 non-zero terms).</a:t>
            </a:r>
          </a:p>
          <a:p>
            <a:pPr>
              <a:spcBef>
                <a:spcPts val="800"/>
              </a:spcBef>
              <a:defRPr sz="1100"/>
            </a:pPr>
            <a:r>
              <a:rPr b="1">
                <a:solidFill>
                  <a:srgbClr val="34D399"/>
                </a:solidFill>
              </a:rPr>
              <a:t>• 100% Double-Bit Errors: </a:t>
            </a:r>
            <a:r>
              <a:rPr>
                <a:solidFill>
                  <a:srgbClr val="94A3B8"/>
                </a:solidFill>
              </a:rPr>
              <a:t>Detects all double-bit errors provided G(x) does not divide (x^k + 1).</a:t>
            </a:r>
          </a:p>
          <a:p>
            <a:pPr>
              <a:spcBef>
                <a:spcPts val="800"/>
              </a:spcBef>
              <a:defRPr sz="1100"/>
            </a:pPr>
            <a:r>
              <a:rPr b="1">
                <a:solidFill>
                  <a:srgbClr val="34D399"/>
                </a:solidFill>
              </a:rPr>
              <a:t>• 100% Odd-Numbered Errors: </a:t>
            </a:r>
            <a:r>
              <a:rPr>
                <a:solidFill>
                  <a:srgbClr val="94A3B8"/>
                </a:solidFill>
              </a:rPr>
              <a:t>If G(x) contains factor (x + 1), it catches ALL odd numbers of flipped bits.</a:t>
            </a:r>
          </a:p>
          <a:p>
            <a:pPr>
              <a:spcBef>
                <a:spcPts val="800"/>
              </a:spcBef>
              <a:defRPr sz="1100"/>
            </a:pPr>
            <a:r>
              <a:rPr b="1">
                <a:solidFill>
                  <a:srgbClr val="34D399"/>
                </a:solidFill>
              </a:rPr>
              <a:t>• Burst Errors &lt;= r Bits: </a:t>
            </a:r>
            <a:r>
              <a:rPr>
                <a:solidFill>
                  <a:srgbClr val="94A3B8"/>
                </a:solidFill>
              </a:rPr>
              <a:t>Detects 100% of all burst error corruptions of length &lt;= degree of G(x).</a:t>
            </a:r>
          </a:p>
          <a:p>
            <a:pPr>
              <a:spcBef>
                <a:spcPts val="800"/>
              </a:spcBef>
              <a:defRPr sz="1100"/>
            </a:pPr>
            <a:r>
              <a:rPr b="1">
                <a:solidFill>
                  <a:srgbClr val="34D399"/>
                </a:solidFill>
              </a:rPr>
              <a:t>• NS-2 Integration (ns2_crc.tr): </a:t>
            </a:r>
            <a:r>
              <a:rPr>
                <a:solidFill>
                  <a:srgbClr val="94A3B8"/>
                </a:solidFill>
              </a:rPr>
              <a:t>Transmits CRC codeword over NS-2 link. Channel packet drops trigger non-zero syndrome remainder at receiver sink.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●  CHANNEL SIMULATION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Network Simulator 2 (NS-2) Integration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Coupling physical link discrete-event simulation with Data Link Layer error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OTcl Network Topology Configuration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Physical Channel Modeling in network_error_sim.tcl: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Simulator Engine: </a:t>
            </a:r>
            <a:r>
              <a:rPr>
                <a:solidFill>
                  <a:srgbClr val="94A3B8"/>
                </a:solidFill>
              </a:rPr>
              <a:t>NS-2 discrete-event network simulator executed natively in WSL (/usr/bin/ns).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Transmitter Node (n0): </a:t>
            </a:r>
            <a:r>
              <a:rPr>
                <a:solidFill>
                  <a:srgbClr val="94A3B8"/>
                </a:solidFill>
              </a:rPr>
              <a:t>Agent/UDP attached to Node 0 with Constant Bit Rate (CBR) traffic generator sending 64-byte packets.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Receiver Node (n1): </a:t>
            </a:r>
            <a:r>
              <a:rPr>
                <a:solidFill>
                  <a:srgbClr val="94A3B8"/>
                </a:solidFill>
              </a:rPr>
              <a:t>Agent/Null sink attached to Node 1 acting as the destination receiver.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Duplex Link: </a:t>
            </a:r>
            <a:r>
              <a:rPr>
                <a:solidFill>
                  <a:srgbClr val="94A3B8"/>
                </a:solidFill>
              </a:rPr>
              <a:t>Bandwidth: 2.0 Mbps, Propagation Delay: 10 ms, Queueing: DropTail.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8FAFC"/>
                </a:solidFill>
              </a:rPr>
              <a:t>• ErrorModel Loss Module: </a:t>
            </a:r>
            <a:r>
              <a:rPr>
                <a:solidFill>
                  <a:srgbClr val="94A3B8"/>
                </a:solidFill>
              </a:rPr>
              <a:t>Inserted directly on link n0 -&gt; n1 with uniform random loss variable ($loss_module set rate_ $err_rate). Dropped packets routed to Agent/Null drop-target.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Trace Parsing &amp; Python-to-NS-2 Bridge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Real-Time Trace File Analytics (.tr):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38BDF8"/>
                </a:solidFill>
              </a:rPr>
              <a:t>• Subprocess Bridge (ns2_bridge.py): </a:t>
            </a:r>
            <a:r>
              <a:rPr>
                <a:solidFill>
                  <a:srgbClr val="94A3B8"/>
                </a:solidFill>
              </a:rPr>
              <a:t>Automates execution via 'wsl bash -c ns network_error_sim.tcl [params]', streaming stdout and return codes.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38BDF8"/>
                </a:solidFill>
              </a:rPr>
              <a:t>• Trace Event Parser: </a:t>
            </a:r>
            <a:r>
              <a:rPr>
                <a:solidFill>
                  <a:srgbClr val="94A3B8"/>
                </a:solidFill>
              </a:rPr>
              <a:t>Parses 12-column NS-2 event records:
• '+' : Packet queued at Transmitter (Node 0)
• '-' : Packet transmitted onto physical link
• 'd' : Packet DROPPED / CORRUPTED by ErrorModel
• 'r' : Packet successfully received at Node 1 (Sink)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38BDF8"/>
                </a:solidFill>
              </a:rPr>
              <a:t>• Packet Error Rate (PER): </a:t>
            </a:r>
            <a:r>
              <a:rPr>
                <a:solidFill>
                  <a:srgbClr val="94A3B8"/>
                </a:solidFill>
              </a:rPr>
              <a:t>Calculates PER = (Dropped / (Received + Dropped)) * 100%.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38BDF8"/>
                </a:solidFill>
              </a:rPr>
              <a:t>• NAM Visualizer Support: </a:t>
            </a:r>
            <a:r>
              <a:rPr>
                <a:solidFill>
                  <a:srgbClr val="94A3B8"/>
                </a:solidFill>
              </a:rPr>
              <a:t>Generates network animation (.nam) files for visual packet flow inspection.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●  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Multi-Technique NS-2 Verification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Empirical benchmark proving that all 5 error detection techniques are 100% verified across NS-2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591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03120"/>
                <a:gridCol w="1554480"/>
                <a:gridCol w="1645920"/>
                <a:gridCol w="1307592"/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Transmitted Codeword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NS-2 Channel Link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ErrorModel PER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Receiver 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NS-2 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1D Parity Check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110100100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Node 0 ➔ Node 1 (2 Mbps)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20.0% ErrorModel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✓ Parity Bit Verified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 VERIFIED IN NS-2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2D Parity Matrix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11011101001111...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Node 0 ➔ Node 1 (2 Mbps)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20.0% ErrorModel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✓ Row/Col Corrected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 VERIFIED IN NS-2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Hamming Code (n,k)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0110011 (7, 4)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Node 0 ➔ Node 1 (2 Mbps)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20.0% ErrorModel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✓ Syndrome Auto-Flip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 VERIFIED IN NS-2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Internet Checksum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1010100100111001...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Node 0 ➔ Node 1 (2 Mbps)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20.0% ErrorModel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✓ 1's Complement Inverted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 VERIFIED IN NS-2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CRC Modulo-2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11010110111110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Node 0 ➔ Node 1 (2 Mbps)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20.0% ErrorModel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✓ Remainder == 0 Checked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 VERIFIED IN NS-2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892040"/>
            <a:ext cx="10725912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074920"/>
            <a:ext cx="102687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Live Benchmark Execution via REST API (/api/run-ns2-all)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Our platform features a dedicated multi-technique batch runner that encodes data across all 5 algorithms, transmits each through NS-2 in WSL, logs separate trace files (ns2_parity.tr, ns2_parity2d.tr, ns2_hamming.tr, ns2_checksum.tr, ns2_crc.tr), and verifies error detection and bit correction live!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●  ALGORITHM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Comparative Analysis of All 5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Comparing redundancy overhead, detection strength, correction capability, and protocol usage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59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2103120"/>
                <a:gridCol w="1920240"/>
                <a:gridCol w="1645920"/>
                <a:gridCol w="1581912"/>
              </a:tblGrid>
              <a:tr h="746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Redundancy Overhead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Error Detection Power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Error Correction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Computational Cost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Standard Protocols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1D Parity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 bit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Single-bit &amp; odd errors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 (Detection only)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O(n) - Single XOR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Async Serial (UART), ASCII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2D Parity Matrix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 + N + 1 bits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Burst errors &amp; multiple bits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1-bit error correction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O(M × N) Grid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Magnetic Tape, Telecommunications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Hamming 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 bits (2^r &gt;= m+r+1)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Single &amp; double-bit errors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1-bit forward correction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O(m log m) Syndrome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ECC RAM, RAID-2, Space Telemetry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Internet Checksum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16 bits (typical)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Burst errors &amp; sums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 (Detection only)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O(n) Integer addition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IPv4, TCP, UDP, ICMP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CRC Modulo-2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Degree r of G(x)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100% single/double/burst &lt;= 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 (Detection only)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O(n) Bitwise shift/XOR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Ethernet, Wi-Fi 802.11, USB, SATA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●  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Implementation Highlights &amp; Project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Fully functional multi-platform simulator ready for live classroom and lab demonstrations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1. Key Implementation Accomplishments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Engineering Deliverables: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34D399"/>
                </a:solidFill>
              </a:rPr>
              <a:t>• Multi-Platform Architecture: </a:t>
            </a:r>
            <a:r>
              <a:rPr>
                <a:solidFill>
                  <a:srgbClr val="94A3B8"/>
                </a:solidFill>
              </a:rPr>
              <a:t>Available as Tkinter desktop GUI (main.py) and modern responsive web application (localhost:5000 &amp; Vercel cloud).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34D399"/>
                </a:solidFill>
              </a:rPr>
              <a:t>• Genuine NS-2 Integration: </a:t>
            </a:r>
            <a:r>
              <a:rPr>
                <a:solidFill>
                  <a:srgbClr val="94A3B8"/>
                </a:solidFill>
              </a:rPr>
              <a:t>Automated OTcl script execution in WSL, live PER calculation, and 12-column event trace parsing.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34D399"/>
                </a:solidFill>
              </a:rPr>
              <a:t>• Interactive Learning Experience: </a:t>
            </a:r>
            <a:r>
              <a:rPr>
                <a:solidFill>
                  <a:srgbClr val="94A3B8"/>
                </a:solidFill>
              </a:rPr>
              <a:t>Real-time bit clicking to inject channel noise, animated glowing ring feedback, and step-by-step mathematical visualizers.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34D399"/>
                </a:solidFill>
              </a:rPr>
              <a:t>• Zero Pip Dependencies for Core GUI: </a:t>
            </a:r>
            <a:r>
              <a:rPr>
                <a:solidFill>
                  <a:srgbClr val="94A3B8"/>
                </a:solidFill>
              </a:rPr>
              <a:t>Desktop simulator runs cleanly using Python Standard Library alone.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2. Project Team &amp; Demonstration Access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Developed by: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Segoe UI"/>
              </a:defRPr>
            </a:pPr>
            <a:r>
              <a:t>AMAN KUMAR YADAV</a:t>
            </a:r>
            <a:br/>
            <a:r>
              <a:t>PRATIK BHARADBHUNJE</a:t>
            </a:r>
            <a:br/>
            <a:r>
              <a:t>DEVRISHI GADIA</a:t>
            </a:r>
          </a:p>
          <a:p>
            <a:pPr>
              <a:spcBef>
                <a:spcPts val="600"/>
              </a:spcBef>
              <a:defRPr sz="1300">
                <a:solidFill>
                  <a:srgbClr val="38BDF8"/>
                </a:solidFill>
                <a:latin typeface="Segoe UI"/>
              </a:defRPr>
            </a:pPr>
            <a:r>
              <a:t>Computer Networks Lab Project</a:t>
            </a:r>
          </a:p>
          <a:p>
            <a:pPr>
              <a:spcBef>
                <a:spcPts val="8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Web Simulator URL: </a:t>
            </a:r>
            <a:r>
              <a:rPr>
                <a:solidFill>
                  <a:srgbClr val="94A3B8"/>
                </a:solidFill>
              </a:rPr>
              <a:t>http://localhost:5000</a:t>
            </a:r>
          </a:p>
          <a:p>
            <a:pPr>
              <a:spcBef>
                <a:spcPts val="8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Local Wi-Fi Network Access: </a:t>
            </a:r>
            <a:r>
              <a:rPr>
                <a:solidFill>
                  <a:srgbClr val="94A3B8"/>
                </a:solidFill>
              </a:rPr>
              <a:t>http://10.240.51.97:5000</a:t>
            </a:r>
          </a:p>
          <a:p>
            <a:pPr>
              <a:spcBef>
                <a:spcPts val="8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Source Code Repository: </a:t>
            </a:r>
            <a:r>
              <a:rPr>
                <a:solidFill>
                  <a:srgbClr val="94A3B8"/>
                </a:solidFill>
              </a:rPr>
              <a:t>https://github.com/Amanyadav201205/errordetection</a:t>
            </a:r>
          </a:p>
          <a:p>
            <a:pPr>
              <a:spcBef>
                <a:spcPts val="8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Desktop Application: </a:t>
            </a:r>
            <a:r>
              <a:rPr>
                <a:solidFill>
                  <a:srgbClr val="94A3B8"/>
                </a:solidFill>
              </a:rPr>
              <a:t>Run 'python main.py' or double-click 'run_app.bat'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